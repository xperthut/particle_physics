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3" r:id="rId4"/>
    <p:sldId id="259" r:id="rId5"/>
    <p:sldId id="274" r:id="rId6"/>
    <p:sldId id="258" r:id="rId7"/>
    <p:sldId id="262" r:id="rId8"/>
    <p:sldId id="260" r:id="rId9"/>
    <p:sldId id="264" r:id="rId10"/>
    <p:sldId id="265" r:id="rId11"/>
    <p:sldId id="266" r:id="rId12"/>
    <p:sldId id="267" r:id="rId13"/>
    <p:sldId id="275" r:id="rId14"/>
    <p:sldId id="261" r:id="rId15"/>
    <p:sldId id="269" r:id="rId16"/>
    <p:sldId id="270" r:id="rId17"/>
    <p:sldId id="271" r:id="rId18"/>
    <p:sldId id="268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7D9B2-C019-4C48-8C64-54BFD964F92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41009-F931-BE4E-AC49-8AA930A4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5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1009-F931-BE4E-AC49-8AA930A4E7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1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1009-F931-BE4E-AC49-8AA930A4E7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6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76E9-324A-F06F-3113-611B4CDDB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9A6A6-BB8D-B37D-8826-C1165A7ED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1C25-6AED-BC66-49BB-C3C2561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CA1BB-7784-2993-D8FD-58EF7E42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9E79-7C6D-1583-6751-4AB1EA13A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8335-6D5C-6C27-D463-12B6EA68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D50C-76C6-D4DE-0C49-16CA2C19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5CD5D-C3DE-CE61-DDE5-8F664912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A6B0-D318-F11B-7F6A-74C597AA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3628B-51ED-3110-48FC-C9A0722B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5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93C1-6CE0-362A-BF34-35299C30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7D292-D0B7-AE4D-CFC8-E9F07C793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62673-CAAB-2D16-8FA1-01AD8A65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A97E-00B3-F29A-F2BF-4943AF1B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CCCD0-0936-6D76-D44E-0D089EAE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2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F1C5-F165-E13E-3930-9A5CCB4D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037A-1E32-47BE-EC4F-89DE3E31D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F177A-586D-F9C0-213B-A658633AA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8351C-01C3-5471-E2FF-0F94CDFA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9BA11-AABE-396D-AFB2-1CFEFBA2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91F86-AB31-8047-C8E0-3B19CB09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1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049E-C530-B353-F5EC-BE1CA472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E24F-8A27-CCF2-2C3E-C3655292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BDA31-E486-6E83-1236-F66E13C84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1ADE9-034E-199D-ABBD-0D3645BDE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F5503-EEEC-B044-8BF3-0E3DD7B38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92DD8-3D89-E4C2-1112-46ABF070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250EB-8FA2-1E53-D519-99E1F0D4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6F622-E7E7-B45B-A9A0-BF280E1C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1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B713-53F0-563B-839F-5D15BD12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593C4-479E-7517-FA61-A2E86BB8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1D150-21E4-5747-1282-AA7A6001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95903-8B0A-9CE6-03CB-6856549F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9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FA413-AFE2-2B34-7F8E-778A082C6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D96CB-0327-9381-0B5F-9FECE16A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058E-13A5-3A7E-2DDA-2B3101B1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2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4863-17C5-A063-539F-0CC3FCA7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510D-2DD6-57F2-64DE-8FFACB535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D6495-239D-20C2-BB96-B5FEE097C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7D86B-B38E-FDDC-C2B0-16909880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698F7-0183-3F76-B1D3-CBFEBDAF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9250D-EE62-3DCD-5467-80D18E1D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6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5AAD-3DFF-167F-7F8D-7E3A4B80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4B06D0-8A34-B70C-EBB2-787DF7AA06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BFA82-3D61-BEC7-B2B4-8F597C129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62511-225F-016E-38ED-FBF18F9C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B9AA1-58C8-9AE7-5101-37074B4E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77406-B9B7-6CB5-C996-4608532D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6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9A1F-C150-CA7D-8E99-A662B83E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380ED-8CC4-FC47-0E21-214B360F4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29CC-5FBE-52B5-3397-D5C7B2BE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64986-0C6A-B903-0190-9322C85A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AEC0-9007-B7E0-0545-CCA9C8FA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0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5B097-3BB9-0E4D-7277-3F08234DF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93E69-3C4B-FA3C-1C5A-1C07B8F92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0309-3AFF-A7C3-55AB-EA337C48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CBC7-3485-FDE3-8893-CC12DBF5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5DBBA-66BA-4EDF-109E-287B7E47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CA8C9-FCCB-C236-43FB-795E616D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9EC52-A5E7-8DCB-8722-F7263031E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0B96-E555-CD20-F653-FC22C34BA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873DD-A30C-CE45-9FC6-7C0A7547D3F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C0723-4501-1FCE-1582-331CD5C6D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417EE-F3C8-16DC-720E-549DC8D8B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38D9B-2A27-1540-85F1-063D7B9D2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F652-D91A-0298-93A3-10D1F56B2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Gluon Helicity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0950A-F75A-13DE-D755-B8868A004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Methun Kamruzzaman</a:t>
            </a:r>
          </a:p>
          <a:p>
            <a:r>
              <a:rPr lang="en-US" dirty="0"/>
              <a:t>Raza Sabbir Sufian</a:t>
            </a:r>
          </a:p>
        </p:txBody>
      </p:sp>
    </p:spTree>
    <p:extLst>
      <p:ext uri="{BB962C8B-B14F-4D97-AF65-F5344CB8AC3E}">
        <p14:creationId xmlns:p14="http://schemas.microsoft.com/office/powerpoint/2010/main" val="141493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AEEF-73ED-7BB4-4618-56470C4A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3A16BD-6AC5-5406-3B50-1A9474657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02914"/>
              </p:ext>
            </p:extLst>
          </p:nvPr>
        </p:nvGraphicFramePr>
        <p:xfrm>
          <a:off x="3830595" y="816485"/>
          <a:ext cx="642144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593">
                  <a:extLst>
                    <a:ext uri="{9D8B030D-6E8A-4147-A177-3AD203B41FA5}">
                      <a16:colId xmlns:a16="http://schemas.microsoft.com/office/drawing/2014/main" val="911899418"/>
                    </a:ext>
                  </a:extLst>
                </a:gridCol>
                <a:gridCol w="623944">
                  <a:extLst>
                    <a:ext uri="{9D8B030D-6E8A-4147-A177-3AD203B41FA5}">
                      <a16:colId xmlns:a16="http://schemas.microsoft.com/office/drawing/2014/main" val="4093479874"/>
                    </a:ext>
                  </a:extLst>
                </a:gridCol>
                <a:gridCol w="753035">
                  <a:extLst>
                    <a:ext uri="{9D8B030D-6E8A-4147-A177-3AD203B41FA5}">
                      <a16:colId xmlns:a16="http://schemas.microsoft.com/office/drawing/2014/main" val="2938958516"/>
                    </a:ext>
                  </a:extLst>
                </a:gridCol>
                <a:gridCol w="1538344">
                  <a:extLst>
                    <a:ext uri="{9D8B030D-6E8A-4147-A177-3AD203B41FA5}">
                      <a16:colId xmlns:a16="http://schemas.microsoft.com/office/drawing/2014/main" val="173459207"/>
                    </a:ext>
                  </a:extLst>
                </a:gridCol>
                <a:gridCol w="1796527">
                  <a:extLst>
                    <a:ext uri="{9D8B030D-6E8A-4147-A177-3AD203B41FA5}">
                      <a16:colId xmlns:a16="http://schemas.microsoft.com/office/drawing/2014/main" val="3564244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Spacing (FM)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#P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#Z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# distinct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#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26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a=0.09 </a:t>
                      </a:r>
                      <a:r>
                        <a:rPr lang="en-US" dirty="0" err="1"/>
                        <a:t>fm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1026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852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a=0.12 </a:t>
                      </a:r>
                      <a:r>
                        <a:rPr lang="en-US" dirty="0" err="1"/>
                        <a:t>fm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1013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349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a=0.15 </a:t>
                      </a:r>
                      <a:r>
                        <a:rPr lang="en-US" dirty="0" err="1"/>
                        <a:t>fm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49575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CF7DA61-2762-EBDD-1BF6-97DCDF98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6" y="2751204"/>
            <a:ext cx="11395803" cy="31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F093-5FFC-622A-AADC-0C77A13D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F69F-F665-DEDD-87BC-0AE4B2F0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to extrapolate M(w, p) curve for large w values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will be the shape of 𝛥I</a:t>
            </a:r>
            <a:r>
              <a:rPr lang="en-US" baseline="-25000" dirty="0"/>
              <a:t>g </a:t>
            </a:r>
          </a:p>
          <a:p>
            <a:pPr marL="514350" indent="-514350">
              <a:buFont typeface="+mj-lt"/>
              <a:buAutoNum type="arabicPeriod"/>
            </a:pPr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have data for three a (0.09, 0.12, 0.15) values. What will be the shape of 𝛥I</a:t>
            </a:r>
            <a:r>
              <a:rPr lang="en-US" baseline="-25000" dirty="0"/>
              <a:t>g </a:t>
            </a:r>
            <a:r>
              <a:rPr lang="en-US" dirty="0"/>
              <a:t>when a→0.</a:t>
            </a:r>
          </a:p>
        </p:txBody>
      </p:sp>
    </p:spTree>
    <p:extLst>
      <p:ext uri="{BB962C8B-B14F-4D97-AF65-F5344CB8AC3E}">
        <p14:creationId xmlns:p14="http://schemas.microsoft.com/office/powerpoint/2010/main" val="25481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F919-23F7-0FC8-4AF2-4E638313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49578" cy="600306"/>
          </a:xfrm>
        </p:spPr>
        <p:txBody>
          <a:bodyPr>
            <a:normAutofit fontScale="90000"/>
          </a:bodyPr>
          <a:lstStyle/>
          <a:p>
            <a:r>
              <a:rPr lang="en-US" dirty="0"/>
              <a:t>Previous pipeline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D0F42C-7474-D55A-A706-D25F6E33B1BB}"/>
              </a:ext>
            </a:extLst>
          </p:cNvPr>
          <p:cNvSpPr/>
          <p:nvPr/>
        </p:nvSpPr>
        <p:spPr>
          <a:xfrm>
            <a:off x="3915782" y="1332694"/>
            <a:ext cx="1204857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Gradient descent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7EC9F1C-BD8B-F04B-1855-DAEE56BFE5D8}"/>
              </a:ext>
            </a:extLst>
          </p:cNvPr>
          <p:cNvSpPr/>
          <p:nvPr/>
        </p:nvSpPr>
        <p:spPr>
          <a:xfrm>
            <a:off x="2667896" y="1686441"/>
            <a:ext cx="1203416" cy="30299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E0F097-B24B-5CD0-B36B-5EAE4D5B26DE}"/>
              </a:ext>
            </a:extLst>
          </p:cNvPr>
          <p:cNvSpPr/>
          <p:nvPr/>
        </p:nvSpPr>
        <p:spPr>
          <a:xfrm>
            <a:off x="5847384" y="1332694"/>
            <a:ext cx="179054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Estimate M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M</a:t>
            </a:r>
            <a:r>
              <a:rPr lang="en-US" baseline="-25000" dirty="0" err="1"/>
              <a:t>j</a:t>
            </a:r>
            <a:r>
              <a:rPr lang="en-US" dirty="0"/>
              <a:t> that best fit 𝛥I</a:t>
            </a:r>
            <a:r>
              <a:rPr lang="en-US" baseline="-25000" dirty="0"/>
              <a:t>g 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3FD46C2-FB42-85E9-08CA-056B36F1F64B}"/>
              </a:ext>
            </a:extLst>
          </p:cNvPr>
          <p:cNvSpPr/>
          <p:nvPr/>
        </p:nvSpPr>
        <p:spPr>
          <a:xfrm>
            <a:off x="5120639" y="1654168"/>
            <a:ext cx="682275" cy="239177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6A749D-B9FC-7F0C-0F3F-070CE8083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62" y="1021548"/>
            <a:ext cx="2217554" cy="17435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8D52F7-3B1C-FD6B-A847-BAB88921A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462" y="204395"/>
            <a:ext cx="3243276" cy="5165150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2A9DCD5-5881-832E-3EC8-3ABD75DE3D24}"/>
              </a:ext>
            </a:extLst>
          </p:cNvPr>
          <p:cNvSpPr/>
          <p:nvPr/>
        </p:nvSpPr>
        <p:spPr>
          <a:xfrm>
            <a:off x="7682399" y="1654168"/>
            <a:ext cx="956533" cy="335269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70A86DC-8EC1-79F0-2585-66CD5A20B615}"/>
              </a:ext>
            </a:extLst>
          </p:cNvPr>
          <p:cNvSpPr/>
          <p:nvPr/>
        </p:nvSpPr>
        <p:spPr>
          <a:xfrm rot="10800000">
            <a:off x="7682399" y="4154351"/>
            <a:ext cx="956533" cy="335269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84EF951-D06C-F93D-3464-38829DC1B85F}"/>
              </a:ext>
            </a:extLst>
          </p:cNvPr>
          <p:cNvSpPr/>
          <p:nvPr/>
        </p:nvSpPr>
        <p:spPr>
          <a:xfrm>
            <a:off x="5847383" y="3727422"/>
            <a:ext cx="1790545" cy="1189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the synthetic M values to train ML models</a:t>
            </a:r>
            <a:endParaRPr lang="en-US" baseline="-25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E8C4550-034F-89E8-BED2-845AD901C12C}"/>
              </a:ext>
            </a:extLst>
          </p:cNvPr>
          <p:cNvSpPr/>
          <p:nvPr/>
        </p:nvSpPr>
        <p:spPr>
          <a:xfrm rot="10800000">
            <a:off x="5029199" y="4154350"/>
            <a:ext cx="773712" cy="335269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5DC0A4-4320-68B3-4F24-D79D1F72D75D}"/>
              </a:ext>
            </a:extLst>
          </p:cNvPr>
          <p:cNvSpPr/>
          <p:nvPr/>
        </p:nvSpPr>
        <p:spPr>
          <a:xfrm>
            <a:off x="3194182" y="3429000"/>
            <a:ext cx="1790544" cy="1940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on real data, find best model and use that to generate 𝛥I</a:t>
            </a:r>
            <a:r>
              <a:rPr lang="en-US" baseline="-25000" dirty="0"/>
              <a:t>g</a:t>
            </a:r>
            <a:r>
              <a:rPr lang="en-US" dirty="0"/>
              <a:t> 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1930087B-4485-559F-C8D7-B12C76D25DFE}"/>
              </a:ext>
            </a:extLst>
          </p:cNvPr>
          <p:cNvSpPr/>
          <p:nvPr/>
        </p:nvSpPr>
        <p:spPr>
          <a:xfrm rot="10800000">
            <a:off x="2375998" y="4154351"/>
            <a:ext cx="773712" cy="335269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CF4B2D-7218-0513-125F-B0B0CF2F1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5" y="3428999"/>
            <a:ext cx="2198610" cy="252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2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B122-741F-D030-F53A-009E2C0C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current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D8F81-44A3-6335-60A4-B113A7B8A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Biased with the initial I(w) values</a:t>
            </a:r>
          </a:p>
          <a:p>
            <a:r>
              <a:rPr lang="en-US" dirty="0"/>
              <a:t>ML is more ornamental, not real use case</a:t>
            </a:r>
          </a:p>
          <a:p>
            <a:r>
              <a:rPr lang="en-US" dirty="0"/>
              <a:t>Hard to predict when real data changes</a:t>
            </a:r>
          </a:p>
        </p:txBody>
      </p:sp>
    </p:spTree>
    <p:extLst>
      <p:ext uri="{BB962C8B-B14F-4D97-AF65-F5344CB8AC3E}">
        <p14:creationId xmlns:p14="http://schemas.microsoft.com/office/powerpoint/2010/main" val="203275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3CD6-0C98-712E-E69F-D3EE5209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 fitting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AFE30C-BE5D-3474-807E-B0874C035D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365014"/>
              </p:ext>
            </p:extLst>
          </p:nvPr>
        </p:nvGraphicFramePr>
        <p:xfrm>
          <a:off x="459937" y="1604424"/>
          <a:ext cx="11432060" cy="316547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2809">
                  <a:extLst>
                    <a:ext uri="{9D8B030D-6E8A-4147-A177-3AD203B41FA5}">
                      <a16:colId xmlns:a16="http://schemas.microsoft.com/office/drawing/2014/main" val="3168334277"/>
                    </a:ext>
                  </a:extLst>
                </a:gridCol>
                <a:gridCol w="3163330">
                  <a:extLst>
                    <a:ext uri="{9D8B030D-6E8A-4147-A177-3AD203B41FA5}">
                      <a16:colId xmlns:a16="http://schemas.microsoft.com/office/drawing/2014/main" val="1403352490"/>
                    </a:ext>
                  </a:extLst>
                </a:gridCol>
                <a:gridCol w="1940010">
                  <a:extLst>
                    <a:ext uri="{9D8B030D-6E8A-4147-A177-3AD203B41FA5}">
                      <a16:colId xmlns:a16="http://schemas.microsoft.com/office/drawing/2014/main" val="2343634508"/>
                    </a:ext>
                  </a:extLst>
                </a:gridCol>
                <a:gridCol w="5515911">
                  <a:extLst>
                    <a:ext uri="{9D8B030D-6E8A-4147-A177-3AD203B41FA5}">
                      <a16:colId xmlns:a16="http://schemas.microsoft.com/office/drawing/2014/main" val="2019126574"/>
                    </a:ext>
                  </a:extLst>
                </a:gridCol>
              </a:tblGrid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(k)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differs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92750824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e^{c z²}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s, γ, c (4)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53013119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s (2)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 dependence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56232262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s, γ (3)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 without the z² term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27000223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e^{c z²}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s, c (3)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 without the P power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329264750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(1 + c z²)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s,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 (4)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O(z²) correction instead of an exponential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71125792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ω^a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e^{c z²}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a, s, γ, c (5)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power of ω (a=1 gives M1)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44464537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(1 +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₀)²)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e^{c z²}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ω₀, γ, c (4)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 shape in ω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76535074"/>
                  </a:ext>
                </a:extLst>
              </a:tr>
              <a:tr h="3517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M8</a:t>
                      </a:r>
                      <a:endParaRPr lang="en-US" sz="1600" b="0" i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e^{−(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₀)²} P^{−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e^{c z²}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₀,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 (4)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fall-off in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endParaRPr lang="en-US" sz="1600" b="0" i="0" dirty="0">
                        <a:solidFill>
                          <a:srgbClr val="61616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61379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24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2F6A-FBD2-57E4-F7FE-5B411C4B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equations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E26353-B3AD-2529-B899-D80D1C6D4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6070600" cy="1587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5DF4F37-D656-78B0-C623-DF098B259302}"/>
              </a:ext>
            </a:extLst>
          </p:cNvPr>
          <p:cNvGrpSpPr/>
          <p:nvPr/>
        </p:nvGrpSpPr>
        <p:grpSpPr>
          <a:xfrm>
            <a:off x="704334" y="3779275"/>
            <a:ext cx="8431213" cy="461665"/>
            <a:chOff x="704334" y="3779275"/>
            <a:chExt cx="8431213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C99B972-58BE-CE71-0F5F-FA1C6B0A8301}"/>
                    </a:ext>
                  </a:extLst>
                </p:cNvPr>
                <p:cNvSpPr txBox="1"/>
                <p:nvPr/>
              </p:nvSpPr>
              <p:spPr>
                <a:xfrm>
                  <a:off x="4281002" y="3826809"/>
                  <a:ext cx="485454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Mj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&lt;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/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C99B972-58BE-CE71-0F5F-FA1C6B0A8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1002" y="3826809"/>
                  <a:ext cx="4854545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0000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B41203-05C7-40D7-5903-E6EA3C75DCC8}"/>
                    </a:ext>
                  </a:extLst>
                </p:cNvPr>
                <p:cNvSpPr txBox="1"/>
                <p:nvPr/>
              </p:nvSpPr>
              <p:spPr>
                <a:xfrm>
                  <a:off x="704334" y="3779275"/>
                  <a:ext cx="319735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To be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&gt;0, </m:t>
                      </m:r>
                    </m:oMath>
                  </a14:m>
                  <a:endParaRPr lang="en-US" sz="24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B41203-05C7-40D7-5903-E6EA3C75D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334" y="3779275"/>
                  <a:ext cx="319735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767" t="-10526" r="-791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5905206-3F0F-9A30-A534-C854519504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6037" y="4010106"/>
              <a:ext cx="484965" cy="1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18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E06A-3B81-1068-D20F-6D8E1330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AF36-76E1-284C-F4E1-4C75E1E4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49578" cy="600306"/>
          </a:xfrm>
        </p:spPr>
        <p:txBody>
          <a:bodyPr>
            <a:normAutofit fontScale="90000"/>
          </a:bodyPr>
          <a:lstStyle/>
          <a:p>
            <a:r>
              <a:rPr lang="en-US" dirty="0"/>
              <a:t>Curve fitting model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AB5650-E407-A872-CBD6-646771B47888}"/>
              </a:ext>
            </a:extLst>
          </p:cNvPr>
          <p:cNvSpPr/>
          <p:nvPr/>
        </p:nvSpPr>
        <p:spPr>
          <a:xfrm>
            <a:off x="630195" y="797009"/>
            <a:ext cx="1779373" cy="13098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 8 models M1…M8, find the best one using QAIC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AB5D20A-E0F0-E1F0-E0EE-0679731D4260}"/>
              </a:ext>
            </a:extLst>
          </p:cNvPr>
          <p:cNvSpPr/>
          <p:nvPr/>
        </p:nvSpPr>
        <p:spPr>
          <a:xfrm>
            <a:off x="2409568" y="1106929"/>
            <a:ext cx="729049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229AF5-10DA-DF2D-F734-10C4E306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617" y="518981"/>
            <a:ext cx="8810367" cy="2517247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2E8862-A501-F459-0EB3-FCB49809501F}"/>
              </a:ext>
            </a:extLst>
          </p:cNvPr>
          <p:cNvSpPr/>
          <p:nvPr/>
        </p:nvSpPr>
        <p:spPr>
          <a:xfrm>
            <a:off x="531340" y="2322063"/>
            <a:ext cx="1964724" cy="1436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each FM, find the best matching M(w) curve for  p=1…5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E5E6D924-8C8B-EE7C-1F66-59D2B3E2585D}"/>
              </a:ext>
            </a:extLst>
          </p:cNvPr>
          <p:cNvSpPr/>
          <p:nvPr/>
        </p:nvSpPr>
        <p:spPr>
          <a:xfrm rot="10800000">
            <a:off x="2496065" y="2579028"/>
            <a:ext cx="729049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4E10E90-581F-DA3D-0FDC-A4D4539C5167}"/>
              </a:ext>
            </a:extLst>
          </p:cNvPr>
          <p:cNvSpPr/>
          <p:nvPr/>
        </p:nvSpPr>
        <p:spPr>
          <a:xfrm>
            <a:off x="98854" y="4516916"/>
            <a:ext cx="2397210" cy="1436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the best matching M</a:t>
            </a:r>
            <a:r>
              <a:rPr lang="en-US" baseline="-25000" dirty="0"/>
              <a:t>k</a:t>
            </a:r>
            <a:r>
              <a:rPr lang="en-US" dirty="0"/>
              <a:t>(w) value (for p=k), find Mi(w) and </a:t>
            </a:r>
            <a:r>
              <a:rPr lang="en-US" dirty="0" err="1"/>
              <a:t>M</a:t>
            </a:r>
            <a:r>
              <a:rPr lang="en-US" baseline="-25000" dirty="0" err="1"/>
              <a:t>j</a:t>
            </a:r>
            <a:r>
              <a:rPr lang="en-US" dirty="0"/>
              <a:t>(w) (i&lt;j&lt;k) using GD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1AFD57AF-617F-D935-E99E-64E10D825F30}"/>
              </a:ext>
            </a:extLst>
          </p:cNvPr>
          <p:cNvSpPr/>
          <p:nvPr/>
        </p:nvSpPr>
        <p:spPr>
          <a:xfrm rot="5400000">
            <a:off x="1149177" y="3923792"/>
            <a:ext cx="729049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FA95B7E-D625-269E-F8AF-2C1909F09105}"/>
              </a:ext>
            </a:extLst>
          </p:cNvPr>
          <p:cNvSpPr/>
          <p:nvPr/>
        </p:nvSpPr>
        <p:spPr>
          <a:xfrm>
            <a:off x="3351319" y="4640811"/>
            <a:ext cx="1790545" cy="1189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the synthetic M values to train ML models</a:t>
            </a:r>
            <a:endParaRPr lang="en-US" baseline="-250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C5E3996-3711-B632-5A52-B4D6783A803A}"/>
              </a:ext>
            </a:extLst>
          </p:cNvPr>
          <p:cNvSpPr/>
          <p:nvPr/>
        </p:nvSpPr>
        <p:spPr>
          <a:xfrm>
            <a:off x="5977359" y="4265102"/>
            <a:ext cx="1790544" cy="1940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on real data, find best model and use that to generate 𝛥I</a:t>
            </a:r>
            <a:r>
              <a:rPr lang="en-US" baseline="-25000" dirty="0"/>
              <a:t>g</a:t>
            </a:r>
            <a:r>
              <a:rPr lang="en-US" dirty="0"/>
              <a:t> 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84540166-429C-25F0-42D1-2E4643DADC6E}"/>
              </a:ext>
            </a:extLst>
          </p:cNvPr>
          <p:cNvSpPr/>
          <p:nvPr/>
        </p:nvSpPr>
        <p:spPr>
          <a:xfrm>
            <a:off x="2549287" y="5014949"/>
            <a:ext cx="729049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078CD609-3CEE-21B0-A527-B98F3867EE22}"/>
              </a:ext>
            </a:extLst>
          </p:cNvPr>
          <p:cNvSpPr/>
          <p:nvPr/>
        </p:nvSpPr>
        <p:spPr>
          <a:xfrm>
            <a:off x="5214847" y="5014949"/>
            <a:ext cx="729049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3FE06F7-F596-BCAD-E80F-4680051AAFE9}"/>
              </a:ext>
            </a:extLst>
          </p:cNvPr>
          <p:cNvSpPr/>
          <p:nvPr/>
        </p:nvSpPr>
        <p:spPr>
          <a:xfrm>
            <a:off x="8835889" y="4265101"/>
            <a:ext cx="2071010" cy="1940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 linear interpolation to generate 𝛥I</a:t>
            </a:r>
            <a:r>
              <a:rPr lang="en-US" baseline="-25000" dirty="0"/>
              <a:t>g </a:t>
            </a:r>
            <a:r>
              <a:rPr lang="en-US" dirty="0"/>
              <a:t>when a→0 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EFCD277-78A2-E852-0523-00A8C62DF999}"/>
              </a:ext>
            </a:extLst>
          </p:cNvPr>
          <p:cNvSpPr/>
          <p:nvPr/>
        </p:nvSpPr>
        <p:spPr>
          <a:xfrm>
            <a:off x="7874349" y="5006773"/>
            <a:ext cx="861878" cy="45720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9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6224-C21C-C9B8-CA14-3B4AB370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13903" cy="6834167"/>
          </a:xfrm>
        </p:spPr>
        <p:txBody>
          <a:bodyPr>
            <a:normAutofit/>
          </a:bodyPr>
          <a:lstStyle/>
          <a:p>
            <a:r>
              <a:rPr lang="en-US" dirty="0"/>
              <a:t>Best three model outputs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a=0.09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D22798-011F-B2D7-EB4C-B4B1033CC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972" y="0"/>
            <a:ext cx="9244027" cy="68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6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8E4-BF7C-F8DD-3A9A-2A659BCD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1EBE-4C44-6EB6-02DE-22221B6E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13903" cy="6834167"/>
          </a:xfrm>
        </p:spPr>
        <p:txBody>
          <a:bodyPr>
            <a:normAutofit/>
          </a:bodyPr>
          <a:lstStyle/>
          <a:p>
            <a:r>
              <a:rPr lang="en-US" dirty="0"/>
              <a:t>Best three model outputs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a=0.12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5598E-3DB0-D30C-B08C-DCD3886D6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947972" y="0"/>
            <a:ext cx="9244027" cy="68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56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0328-5280-EBB6-45D7-4646F812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A9D3-CCC9-74B7-ACAD-AC330E3F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13903" cy="6834167"/>
          </a:xfrm>
        </p:spPr>
        <p:txBody>
          <a:bodyPr>
            <a:normAutofit/>
          </a:bodyPr>
          <a:lstStyle/>
          <a:p>
            <a:r>
              <a:rPr lang="en-US" dirty="0"/>
              <a:t>Best three model outputs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a=0.15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E04368-9E8E-CB02-3FA0-72B073445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947972" y="0"/>
            <a:ext cx="9244027" cy="68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5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8C0D18-8FBE-16FC-B252-110F23225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021"/>
            <a:ext cx="6135129" cy="4090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2F834-3CFA-5AF4-04C5-71FB70E2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28" y="1652893"/>
            <a:ext cx="6056871" cy="40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42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6C42-2B11-353B-2BA2-E61BADCE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61EE-7ECE-94AD-4939-C1873AD04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 generic solution</a:t>
            </a:r>
          </a:p>
          <a:p>
            <a:r>
              <a:rPr lang="en-US" dirty="0"/>
              <a:t>Model does not capture the variability of changes in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7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78FE-C6BC-0BED-12E7-E3ED7186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36FD-11A9-CC8C-2F82-403170CF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029198" cy="600306"/>
          </a:xfrm>
        </p:spPr>
        <p:txBody>
          <a:bodyPr>
            <a:normAutofit fontScale="90000"/>
          </a:bodyPr>
          <a:lstStyle/>
          <a:p>
            <a:r>
              <a:rPr lang="en-US" dirty="0"/>
              <a:t>Deep Learning model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6E0732-4826-5325-F910-72EF7CF2F7CB}"/>
              </a:ext>
            </a:extLst>
          </p:cNvPr>
          <p:cNvGrpSpPr/>
          <p:nvPr/>
        </p:nvGrpSpPr>
        <p:grpSpPr>
          <a:xfrm>
            <a:off x="1906256" y="2224415"/>
            <a:ext cx="8777381" cy="1963881"/>
            <a:chOff x="398732" y="2731042"/>
            <a:chExt cx="8777381" cy="196388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C95F853-27AD-C985-3F5D-E43B6B3A32BD}"/>
                </a:ext>
              </a:extLst>
            </p:cNvPr>
            <p:cNvSpPr/>
            <p:nvPr/>
          </p:nvSpPr>
          <p:spPr>
            <a:xfrm>
              <a:off x="398732" y="2731042"/>
              <a:ext cx="3006776" cy="19638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Synthetic data (generated in previous step using model fitting) for all a (.09, 0.12, 0.15) is used to train the model.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600CA015-9814-0067-484C-C7A8BEB8F5E6}"/>
                </a:ext>
              </a:extLst>
            </p:cNvPr>
            <p:cNvSpPr/>
            <p:nvPr/>
          </p:nvSpPr>
          <p:spPr>
            <a:xfrm>
              <a:off x="3449978" y="3200358"/>
              <a:ext cx="1351843" cy="832103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08B25E6-AE87-0C85-7EF5-B1C6DB3683F1}"/>
                </a:ext>
              </a:extLst>
            </p:cNvPr>
            <p:cNvSpPr/>
            <p:nvPr/>
          </p:nvSpPr>
          <p:spPr>
            <a:xfrm>
              <a:off x="4846291" y="2731042"/>
              <a:ext cx="4329822" cy="19638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 on real data and extrapolate M(w, p) and I(w) for  large w values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94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322F-C063-4708-0535-DC6908E1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2" y="37071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M(w, p) and I(w) for a=0.09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89886-4D42-E5B5-F195-7C0DB0ABB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02" y="1039949"/>
            <a:ext cx="11817795" cy="45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0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5FE7-9353-4374-B063-FECD5B10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0197-0B9F-592C-D30A-274AE7A8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2" y="37071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M(w, p) and I(w) for a=0.12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7AAC7-D8D0-762D-CD9A-197BF49BF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7102" y="1039949"/>
            <a:ext cx="11817795" cy="45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7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134C-C02A-7B2C-2D1C-C0B508F2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0990-CB7B-E970-7487-A87E91A1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2" y="37071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M(w, p) and I(w) for a=0.15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15E40-70DE-FDE6-93F3-18AED55AD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7102" y="1039949"/>
            <a:ext cx="11817795" cy="45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60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DF22-108E-D158-73AA-1F1CCDF1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68411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Estimate M(w) and I(w) from real data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B5788-8114-C49F-3EBF-0C6DF6C1D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063"/>
            <a:ext cx="10515600" cy="404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96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AC890-B98B-BCCC-96F5-745279711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296"/>
            <a:ext cx="9511863" cy="65394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7831BB-0684-57A8-E18B-BCE3B02099B8}"/>
              </a:ext>
            </a:extLst>
          </p:cNvPr>
          <p:cNvSpPr txBox="1"/>
          <p:nvPr/>
        </p:nvSpPr>
        <p:spPr>
          <a:xfrm>
            <a:off x="9511863" y="902043"/>
            <a:ext cx="2456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result using:</a:t>
            </a:r>
          </a:p>
          <a:p>
            <a:r>
              <a:rPr lang="en-US" dirty="0"/>
              <a:t>I(</a:t>
            </a:r>
            <a:r>
              <a:rPr lang="en-US" dirty="0" err="1"/>
              <a:t>ω</a:t>
            </a:r>
            <a:r>
              <a:rPr lang="en-US" dirty="0"/>
              <a:t>, a) = I₀(</a:t>
            </a:r>
            <a:r>
              <a:rPr lang="en-US" dirty="0" err="1"/>
              <a:t>ω</a:t>
            </a:r>
            <a:r>
              <a:rPr lang="en-US" dirty="0"/>
              <a:t>) + c₂(</a:t>
            </a:r>
            <a:r>
              <a:rPr lang="en-US" dirty="0" err="1"/>
              <a:t>ω</a:t>
            </a:r>
            <a:r>
              <a:rPr lang="en-US" dirty="0"/>
              <a:t>) a²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B6BBE-2FF8-07D1-D839-95253E7960B8}"/>
              </a:ext>
            </a:extLst>
          </p:cNvPr>
          <p:cNvSpPr txBox="1"/>
          <p:nvPr/>
        </p:nvSpPr>
        <p:spPr>
          <a:xfrm>
            <a:off x="9511863" y="2291121"/>
            <a:ext cx="2591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Systematic check using:</a:t>
            </a:r>
          </a:p>
          <a:p>
            <a:r>
              <a:rPr lang="en-US" dirty="0"/>
              <a:t>I(</a:t>
            </a:r>
            <a:r>
              <a:rPr lang="en-US" dirty="0" err="1"/>
              <a:t>ω</a:t>
            </a:r>
            <a:r>
              <a:rPr lang="en-US" dirty="0"/>
              <a:t>, a) = I₀(</a:t>
            </a:r>
            <a:r>
              <a:rPr lang="en-US" dirty="0" err="1"/>
              <a:t>ω</a:t>
            </a:r>
            <a:r>
              <a:rPr lang="en-US" dirty="0"/>
              <a:t>) + c₁(</a:t>
            </a:r>
            <a:r>
              <a:rPr lang="en-US" dirty="0" err="1"/>
              <a:t>ω</a:t>
            </a:r>
            <a:r>
              <a:rPr lang="en-US" dirty="0"/>
              <a:t>) a</a:t>
            </a:r>
          </a:p>
        </p:txBody>
      </p:sp>
    </p:spTree>
    <p:extLst>
      <p:ext uri="{BB962C8B-B14F-4D97-AF65-F5344CB8AC3E}">
        <p14:creationId xmlns:p14="http://schemas.microsoft.com/office/powerpoint/2010/main" val="1120811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C01A-7DC7-5F6B-2413-B3EA77F0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5610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  <a:br>
              <a:rPr lang="en-US" dirty="0"/>
            </a:br>
            <a:r>
              <a:rPr lang="en-US" dirty="0"/>
              <a:t>Q &amp; A </a:t>
            </a:r>
          </a:p>
        </p:txBody>
      </p:sp>
    </p:spTree>
    <p:extLst>
      <p:ext uri="{BB962C8B-B14F-4D97-AF65-F5344CB8AC3E}">
        <p14:creationId xmlns:p14="http://schemas.microsoft.com/office/powerpoint/2010/main" val="403076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766</Words>
  <Application>Microsoft Macintosh PowerPoint</Application>
  <PresentationFormat>Widescreen</PresentationFormat>
  <Paragraphs>106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Times New Roman</vt:lpstr>
      <vt:lpstr>Office Theme</vt:lpstr>
      <vt:lpstr>Gluon Helicity</vt:lpstr>
      <vt:lpstr>Dataset</vt:lpstr>
      <vt:lpstr>Questions</vt:lpstr>
      <vt:lpstr>Previous pipeline</vt:lpstr>
      <vt:lpstr>Problem with current solution</vt:lpstr>
      <vt:lpstr>Curve fitting</vt:lpstr>
      <vt:lpstr>Required equations</vt:lpstr>
      <vt:lpstr>Curve fitting model</vt:lpstr>
      <vt:lpstr>Best three model outputs  a=0.09</vt:lpstr>
      <vt:lpstr>Best three model outputs  a=0.12</vt:lpstr>
      <vt:lpstr>Best three model outputs  a=0.15</vt:lpstr>
      <vt:lpstr>PowerPoint Presentation</vt:lpstr>
      <vt:lpstr>Problem</vt:lpstr>
      <vt:lpstr>Deep Learning model</vt:lpstr>
      <vt:lpstr>M(w, p) and I(w) for a=0.09</vt:lpstr>
      <vt:lpstr>M(w, p) and I(w) for a=0.12</vt:lpstr>
      <vt:lpstr>M(w, p) and I(w) for a=0.15</vt:lpstr>
      <vt:lpstr>Estimate M(w) and I(w) from real data </vt:lpstr>
      <vt:lpstr>PowerPoint Presentation</vt:lpstr>
      <vt:lpstr>Thanks Q &amp; 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Methun Kamruzzaman</dc:creator>
  <cp:lastModifiedBy>Methun Kamruzzaman</cp:lastModifiedBy>
  <cp:revision>58</cp:revision>
  <dcterms:created xsi:type="dcterms:W3CDTF">2026-10-21T13:27:23Z</dcterms:created>
  <dcterms:modified xsi:type="dcterms:W3CDTF">2026-10-21T15:46:06Z</dcterms:modified>
</cp:coreProperties>
</file>